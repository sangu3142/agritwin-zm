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18" d="100"/>
          <a:sy n="118" d="100"/>
        </p:scale>
        <p:origin x="47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36762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05072" y="0"/>
            <a:ext cx="109728" cy="5143500"/>
          </a:xfrm>
          <a:prstGeom prst="rect">
            <a:avLst/>
          </a:prstGeom>
          <a:solidFill>
            <a:srgbClr val="00FFD1"/>
          </a:solidFill>
          <a:ln w="12700">
            <a:solidFill>
              <a:srgbClr val="00FFD1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57200"/>
            <a:ext cx="1005840" cy="1005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160020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AgriTwin-ZM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365760" y="242316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F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 for Zambian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0F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Agricultural Supply Chains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365760" y="3383280"/>
            <a:ext cx="3017520" cy="27432"/>
          </a:xfrm>
          <a:prstGeom prst="rect">
            <a:avLst/>
          </a:prstGeom>
          <a:solidFill>
            <a:srgbClr val="00B5D8"/>
          </a:solidFill>
          <a:ln w="12700">
            <a:solidFill>
              <a:srgbClr val="00B5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35204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Pitch  ·  May 2026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65760" y="38404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Lusaka  ·  BIT 213 / BSC 120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572000" y="640080"/>
            <a:ext cx="42062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Post-Harvest</a:t>
            </a:r>
            <a:endParaRPr lang="en-US" sz="3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Data into</a:t>
            </a:r>
            <a:endParaRPr lang="en-US" sz="3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Decisions.</a:t>
            </a:r>
            <a:endParaRPr lang="en-US" sz="3600" dirty="0"/>
          </a:p>
        </p:txBody>
      </p:sp>
      <p:sp>
        <p:nvSpPr>
          <p:cNvPr id="11" name="Shape 8"/>
          <p:cNvSpPr/>
          <p:nvPr/>
        </p:nvSpPr>
        <p:spPr>
          <a:xfrm>
            <a:off x="4572000" y="2971800"/>
            <a:ext cx="4206240" cy="1234440"/>
          </a:xfrm>
          <a:prstGeom prst="rect">
            <a:avLst/>
          </a:prstGeom>
          <a:solidFill>
            <a:srgbClr val="0F2040"/>
          </a:solidFill>
          <a:ln w="12700">
            <a:solidFill>
              <a:srgbClr val="00B5D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0" y="3017520"/>
            <a:ext cx="4206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00F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18–30%</a:t>
            </a:r>
            <a:endParaRPr lang="en-US" sz="5200" dirty="0"/>
          </a:p>
        </p:txBody>
      </p:sp>
      <p:sp>
        <p:nvSpPr>
          <p:cNvPr id="13" name="Text 10"/>
          <p:cNvSpPr/>
          <p:nvPr/>
        </p:nvSpPr>
        <p:spPr>
          <a:xfrm>
            <a:off x="4572000" y="3657600"/>
            <a:ext cx="4206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Zambian maize lost before reaching market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72000" y="47548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 ·  12 Java Classes  ·  18 Tests Passing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00B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Zambia Loses Billions in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Harvest Value Every Year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20040" y="1600200"/>
            <a:ext cx="2697480" cy="3154680"/>
          </a:xfrm>
          <a:prstGeom prst="rect">
            <a:avLst/>
          </a:prstGeom>
          <a:solidFill>
            <a:srgbClr val="0F2040"/>
          </a:solidFill>
          <a:ln w="19050">
            <a:solidFill>
              <a:srgbClr val="FF4D6D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600200"/>
            <a:ext cx="2697480" cy="45720"/>
          </a:xfrm>
          <a:prstGeom prst="rect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1783080"/>
            <a:ext cx="685800" cy="6858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20040" y="2514600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18–30%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320040" y="3090672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Post-Harvest Loss Rate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3429000"/>
            <a:ext cx="24231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FAO estimates Zambia loses 18–30% of maize between harvest and market — largely preventable through better storage and monitoring.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200400" y="1600200"/>
            <a:ext cx="2697480" cy="3154680"/>
          </a:xfrm>
          <a:prstGeom prst="rect">
            <a:avLst/>
          </a:prstGeom>
          <a:solidFill>
            <a:srgbClr val="0F2040"/>
          </a:solidFill>
          <a:ln w="19050">
            <a:solidFill>
              <a:srgbClr val="FFB80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00400" y="1600200"/>
            <a:ext cx="2697480" cy="45720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0" y="1783080"/>
            <a:ext cx="685800" cy="6858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200400" y="2514600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ZMW 4B+</a:t>
            </a:r>
            <a:endParaRPr lang="en-US" sz="3000" dirty="0"/>
          </a:p>
        </p:txBody>
      </p:sp>
      <p:sp>
        <p:nvSpPr>
          <p:cNvPr id="15" name="Text 11"/>
          <p:cNvSpPr/>
          <p:nvPr/>
        </p:nvSpPr>
        <p:spPr>
          <a:xfrm>
            <a:off x="3200400" y="3090672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Economic Loss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3337560" y="3429000"/>
            <a:ext cx="24231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Smallholder farmers bear most of this loss, trapping rural communities in cycles of food insecurity and low income.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6080760" y="1600200"/>
            <a:ext cx="2697480" cy="3154680"/>
          </a:xfrm>
          <a:prstGeom prst="rect">
            <a:avLst/>
          </a:prstGeom>
          <a:solidFill>
            <a:srgbClr val="0F2040"/>
          </a:solidFill>
          <a:ln w="19050">
            <a:solidFill>
              <a:srgbClr val="00B5D8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080760" y="1600200"/>
            <a:ext cx="2697480" cy="45720"/>
          </a:xfrm>
          <a:prstGeom prst="rect">
            <a:avLst/>
          </a:prstGeom>
          <a:solidFill>
            <a:srgbClr val="00B5D8"/>
          </a:solidFill>
          <a:ln w="12700">
            <a:solidFill>
              <a:srgbClr val="00B5D8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600" y="1783080"/>
            <a:ext cx="685800" cy="6858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080760" y="2514600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B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500k t</a:t>
            </a:r>
            <a:endParaRPr lang="en-US" sz="3000" dirty="0"/>
          </a:p>
        </p:txBody>
      </p:sp>
      <p:sp>
        <p:nvSpPr>
          <p:cNvPr id="21" name="Text 16"/>
          <p:cNvSpPr/>
          <p:nvPr/>
        </p:nvSpPr>
        <p:spPr>
          <a:xfrm>
            <a:off x="6080760" y="3090672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 Reserve Gap Risk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6217920" y="3429000"/>
            <a:ext cx="24231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Food Reserve Agency's 500,000-tonne strategic reserve is at risk when policy-makers lack real-time simulation tools.</a:t>
            </a:r>
            <a:endParaRPr lang="en-US" sz="950" dirty="0"/>
          </a:p>
        </p:txBody>
      </p:sp>
      <p:sp>
        <p:nvSpPr>
          <p:cNvPr id="23" name="Text 18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0B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decision-making relies on outdated paper reports and instinct — not data.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FFD1"/>
          </a:solidFill>
          <a:ln w="12700">
            <a:solidFill>
              <a:srgbClr val="00FFD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00B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$2B+ Opportunity Hiding in Plain Sight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1920240" cy="1143000"/>
          </a:xfrm>
          <a:prstGeom prst="rect">
            <a:avLst/>
          </a:prstGeom>
          <a:solidFill>
            <a:srgbClr val="0F2040"/>
          </a:solidFill>
          <a:ln w="19050">
            <a:solidFill>
              <a:srgbClr val="00B5D8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34440"/>
            <a:ext cx="1920240" cy="36576"/>
          </a:xfrm>
          <a:prstGeom prst="rect">
            <a:avLst/>
          </a:prstGeom>
          <a:solidFill>
            <a:srgbClr val="00FFD1"/>
          </a:solidFill>
          <a:ln w="12700">
            <a:solidFill>
              <a:srgbClr val="00FFD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37160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F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3.4M+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11480" y="19202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Smallholder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in Zambia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68880" y="1234440"/>
            <a:ext cx="1920240" cy="1143000"/>
          </a:xfrm>
          <a:prstGeom prst="rect">
            <a:avLst/>
          </a:prstGeom>
          <a:solidFill>
            <a:srgbClr val="0F2040"/>
          </a:solidFill>
          <a:ln w="19050">
            <a:solidFill>
              <a:srgbClr val="00B5D8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68880" y="1234440"/>
            <a:ext cx="1920240" cy="36576"/>
          </a:xfrm>
          <a:prstGeom prst="rect">
            <a:avLst/>
          </a:prstGeom>
          <a:solidFill>
            <a:srgbClr val="00B5D8"/>
          </a:solidFill>
          <a:ln w="12700">
            <a:solidFill>
              <a:srgbClr val="00B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0" y="137160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B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2.8M t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2560320" y="19202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maize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17720" y="1234440"/>
            <a:ext cx="1920240" cy="1143000"/>
          </a:xfrm>
          <a:prstGeom prst="rect">
            <a:avLst/>
          </a:prstGeom>
          <a:solidFill>
            <a:srgbClr val="0F2040"/>
          </a:solidFill>
          <a:ln w="19050">
            <a:solidFill>
              <a:srgbClr val="00B5D8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17720" y="1234440"/>
            <a:ext cx="1920240" cy="36576"/>
          </a:xfrm>
          <a:prstGeom prst="rect">
            <a:avLst/>
          </a:prstGeom>
          <a:solidFill>
            <a:srgbClr val="00FFD1"/>
          </a:solidFill>
          <a:ln w="12700">
            <a:solidFill>
              <a:srgbClr val="00FFD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7720" y="137160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F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$180M+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4709160" y="19202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Cold-chain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gap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766560" y="1234440"/>
            <a:ext cx="1920240" cy="1143000"/>
          </a:xfrm>
          <a:prstGeom prst="rect">
            <a:avLst/>
          </a:prstGeom>
          <a:solidFill>
            <a:srgbClr val="0F2040"/>
          </a:solidFill>
          <a:ln w="19050">
            <a:solidFill>
              <a:srgbClr val="00B5D8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766560" y="1234440"/>
            <a:ext cx="1920240" cy="36576"/>
          </a:xfrm>
          <a:prstGeom prst="rect">
            <a:avLst/>
          </a:prstGeom>
          <a:solidFill>
            <a:srgbClr val="00B5D8"/>
          </a:solidFill>
          <a:ln w="12700">
            <a:solidFill>
              <a:srgbClr val="00B5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66560" y="137160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B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6858000" y="19202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Gov. agencies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better data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2606040"/>
            <a:ext cx="4114800" cy="2286000"/>
          </a:xfrm>
          <a:prstGeom prst="rect">
            <a:avLst/>
          </a:prstGeom>
          <a:solidFill>
            <a:srgbClr val="0F2040"/>
          </a:solidFill>
          <a:ln w="12700">
            <a:solidFill>
              <a:srgbClr val="00B5D8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57200" y="26974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Needs AgriTwin-ZM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" y="3035808"/>
            <a:ext cx="3657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of Agriculture (policy simulations)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Reserve Agency (reserve monitoring)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Agri-commodity traders (price forecasting)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NGOs &amp; Development Banks (food security metrics)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companies (crop risk modelling)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63440" y="2606040"/>
            <a:ext cx="4160520" cy="2286000"/>
          </a:xfrm>
          <a:prstGeom prst="rect">
            <a:avLst/>
          </a:prstGeom>
          <a:solidFill>
            <a:srgbClr val="0F2040"/>
          </a:solidFill>
          <a:ln w="12700">
            <a:solidFill>
              <a:srgbClr val="00FFD1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00600" y="26974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F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Now?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00600" y="3035808"/>
            <a:ext cx="38404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Zambia's 2022 Strategic Maize Reserve Policy demands digital monitoring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AfDB &amp; World Bank pushing agritech digital twins across Sub-Saharan Africa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&amp; solar penetration enabling edge deployments in rural districts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volatility making seasonal simulation mission-critical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5D8"/>
          </a:solidFill>
          <a:ln w="12700">
            <a:solidFill>
              <a:srgbClr val="00B5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00B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AgriTwin-ZM: A Digital Twin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Agricultural Supply Chains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508760"/>
            <a:ext cx="3749040" cy="3337560"/>
          </a:xfrm>
          <a:prstGeom prst="rect">
            <a:avLst/>
          </a:prstGeom>
          <a:solidFill>
            <a:srgbClr val="0F2040"/>
          </a:solidFill>
          <a:ln w="15240">
            <a:solidFill>
              <a:srgbClr val="00B5D8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62763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993392"/>
            <a:ext cx="33832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Simulates maize &amp; tomato supply chains month-by-month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post-harvest loss using compound decay + cold-chain factors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Adjusts market prices dynamically via price elasticity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Evaluates 6 Zambian government policy rules automatically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food security indicators, alerts &amp; exportable reports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43400" y="1554480"/>
            <a:ext cx="2286000" cy="960120"/>
          </a:xfrm>
          <a:prstGeom prst="rect">
            <a:avLst/>
          </a:prstGeom>
          <a:solidFill>
            <a:srgbClr val="0F2040"/>
          </a:solidFill>
          <a:ln w="12700">
            <a:solidFill>
              <a:srgbClr val="00FFD1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43400" y="1554480"/>
            <a:ext cx="2286000" cy="36576"/>
          </a:xfrm>
          <a:prstGeom prst="rect">
            <a:avLst/>
          </a:prstGeom>
          <a:solidFill>
            <a:srgbClr val="00FFD1"/>
          </a:solidFill>
          <a:ln w="12700">
            <a:solidFill>
              <a:srgbClr val="00FFD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53128" y="1645920"/>
            <a:ext cx="20665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UI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453128" y="2011680"/>
            <a:ext cx="20665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any JDK — no dependencies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720840" y="1554480"/>
            <a:ext cx="2286000" cy="960120"/>
          </a:xfrm>
          <a:prstGeom prst="rect">
            <a:avLst/>
          </a:prstGeom>
          <a:solidFill>
            <a:srgbClr val="0F2040"/>
          </a:solidFill>
          <a:ln w="12700">
            <a:solidFill>
              <a:srgbClr val="00B5D8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720840" y="1554480"/>
            <a:ext cx="2286000" cy="36576"/>
          </a:xfrm>
          <a:prstGeom prst="rect">
            <a:avLst/>
          </a:prstGeom>
          <a:solidFill>
            <a:srgbClr val="00B5D8"/>
          </a:solidFill>
          <a:ln w="12700">
            <a:solidFill>
              <a:srgbClr val="00B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30568" y="1645920"/>
            <a:ext cx="20665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JavaFX GUI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30568" y="2011680"/>
            <a:ext cx="20665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4-tab graphical dashboard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343400" y="2633472"/>
            <a:ext cx="2286000" cy="960120"/>
          </a:xfrm>
          <a:prstGeom prst="rect">
            <a:avLst/>
          </a:prstGeom>
          <a:solidFill>
            <a:srgbClr val="0F2040"/>
          </a:solidFill>
          <a:ln w="12700">
            <a:solidFill>
              <a:srgbClr val="39FF8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343400" y="2633472"/>
            <a:ext cx="2286000" cy="36576"/>
          </a:xfrm>
          <a:prstGeom prst="rect">
            <a:avLst/>
          </a:prstGeom>
          <a:solidFill>
            <a:srgbClr val="39FF8F"/>
          </a:solidFill>
          <a:ln w="12700">
            <a:solidFill>
              <a:srgbClr val="39FF8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53128" y="2724912"/>
            <a:ext cx="20665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Engine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453128" y="3090672"/>
            <a:ext cx="20665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FRA rules evaluated per simulation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720840" y="2633472"/>
            <a:ext cx="2286000" cy="960120"/>
          </a:xfrm>
          <a:prstGeom prst="rect">
            <a:avLst/>
          </a:prstGeom>
          <a:solidFill>
            <a:srgbClr val="0F2040"/>
          </a:solidFill>
          <a:ln w="12700">
            <a:solidFill>
              <a:srgbClr val="FFB80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20840" y="2633472"/>
            <a:ext cx="2286000" cy="36576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30568" y="2724912"/>
            <a:ext cx="20665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Persistence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30568" y="3090672"/>
            <a:ext cx="20665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&amp; reload pipe-delimited records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343400" y="3712464"/>
            <a:ext cx="2286000" cy="960120"/>
          </a:xfrm>
          <a:prstGeom prst="rect">
            <a:avLst/>
          </a:prstGeom>
          <a:solidFill>
            <a:srgbClr val="0F2040"/>
          </a:solidFill>
          <a:ln w="12700">
            <a:solidFill>
              <a:srgbClr val="00B5D8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343400" y="3712464"/>
            <a:ext cx="2286000" cy="36576"/>
          </a:xfrm>
          <a:prstGeom prst="rect">
            <a:avLst/>
          </a:prstGeom>
          <a:solidFill>
            <a:srgbClr val="00B5D8"/>
          </a:solidFill>
          <a:ln w="12700">
            <a:solidFill>
              <a:srgbClr val="00B5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53128" y="3803904"/>
            <a:ext cx="20665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Export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453128" y="4169664"/>
            <a:ext cx="20665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RFC-4180 output for Excel / Sheets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720840" y="3712464"/>
            <a:ext cx="2286000" cy="960120"/>
          </a:xfrm>
          <a:prstGeom prst="rect">
            <a:avLst/>
          </a:prstGeom>
          <a:solidFill>
            <a:srgbClr val="0F2040"/>
          </a:solidFill>
          <a:ln w="12700">
            <a:solidFill>
              <a:srgbClr val="00FFD1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720840" y="3712464"/>
            <a:ext cx="2286000" cy="36576"/>
          </a:xfrm>
          <a:prstGeom prst="rect">
            <a:avLst/>
          </a:prstGeom>
          <a:solidFill>
            <a:srgbClr val="00FFD1"/>
          </a:solidFill>
          <a:ln w="12700">
            <a:solidFill>
              <a:srgbClr val="00FFD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30568" y="3803904"/>
            <a:ext cx="20665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Unit Tests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830568" y="4169664"/>
            <a:ext cx="20665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Plain-main test harness, 0 failures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FFD1"/>
          </a:solidFill>
          <a:ln w="12700">
            <a:solidFill>
              <a:srgbClr val="00FFD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00B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Modular MVC + Service Layer Architecture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6400800" cy="804672"/>
          </a:xfrm>
          <a:prstGeom prst="rect">
            <a:avLst/>
          </a:prstGeom>
          <a:solidFill>
            <a:srgbClr val="0F2040"/>
          </a:solidFill>
          <a:ln w="19050">
            <a:solidFill>
              <a:srgbClr val="00FFD1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64008" cy="804672"/>
          </a:xfrm>
          <a:prstGeom prst="rect">
            <a:avLst/>
          </a:prstGeom>
          <a:solidFill>
            <a:srgbClr val="00FFD1"/>
          </a:solidFill>
          <a:ln w="12700">
            <a:solidFill>
              <a:srgbClr val="00FFD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28016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0F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LAYER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1572768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ConsoleUI · JavaFX GuiApp · DashboardController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91840" y="1993392"/>
            <a:ext cx="36576" cy="128016"/>
          </a:xfrm>
          <a:prstGeom prst="rect">
            <a:avLst/>
          </a:prstGeom>
          <a:solidFill>
            <a:srgbClr val="00B5D8"/>
          </a:solidFill>
          <a:ln w="12700">
            <a:solidFill>
              <a:srgbClr val="00B5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121408"/>
            <a:ext cx="6400800" cy="804672"/>
          </a:xfrm>
          <a:prstGeom prst="rect">
            <a:avLst/>
          </a:prstGeom>
          <a:solidFill>
            <a:srgbClr val="0F2040"/>
          </a:solidFill>
          <a:ln w="19050">
            <a:solidFill>
              <a:srgbClr val="00B5D8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121408"/>
            <a:ext cx="64008" cy="804672"/>
          </a:xfrm>
          <a:prstGeom prst="rect">
            <a:avLst/>
          </a:prstGeom>
          <a:solidFill>
            <a:srgbClr val="00B5D8"/>
          </a:solidFill>
          <a:ln w="12700">
            <a:solidFill>
              <a:srgbClr val="00B5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212848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0B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LAYER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" y="2505456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SupplyDemandEngine · StorageLossSimulator · PolicyEngine · ReportGenerator · SimulationRunner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91840" y="2926080"/>
            <a:ext cx="36576" cy="128016"/>
          </a:xfrm>
          <a:prstGeom prst="rect">
            <a:avLst/>
          </a:prstGeom>
          <a:solidFill>
            <a:srgbClr val="00B5D8"/>
          </a:solidFill>
          <a:ln w="12700">
            <a:solidFill>
              <a:srgbClr val="00B5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054096"/>
            <a:ext cx="6400800" cy="804672"/>
          </a:xfrm>
          <a:prstGeom prst="rect">
            <a:avLst/>
          </a:prstGeom>
          <a:solidFill>
            <a:srgbClr val="0F2040"/>
          </a:solidFill>
          <a:ln w="19050">
            <a:solidFill>
              <a:srgbClr val="008FA8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054096"/>
            <a:ext cx="64008" cy="804672"/>
          </a:xfrm>
          <a:prstGeom prst="rect">
            <a:avLst/>
          </a:prstGeom>
          <a:solidFill>
            <a:srgbClr val="008FA8"/>
          </a:solidFill>
          <a:ln w="12700">
            <a:solidFill>
              <a:srgbClr val="008F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145536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0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 LAYER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" y="3438144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RecordStore (interface) · FileHandler (pipe-delimited &amp; CSV persistence)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91840" y="3858768"/>
            <a:ext cx="36576" cy="128016"/>
          </a:xfrm>
          <a:prstGeom prst="rect">
            <a:avLst/>
          </a:prstGeom>
          <a:solidFill>
            <a:srgbClr val="00B5D8"/>
          </a:solidFill>
          <a:ln w="12700">
            <a:solidFill>
              <a:srgbClr val="00B5D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986784"/>
            <a:ext cx="6400800" cy="804672"/>
          </a:xfrm>
          <a:prstGeom prst="rect">
            <a:avLst/>
          </a:prstGeom>
          <a:solidFill>
            <a:srgbClr val="0F2040"/>
          </a:solidFill>
          <a:ln w="19050">
            <a:solidFill>
              <a:srgbClr val="39FF8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986784"/>
            <a:ext cx="64008" cy="804672"/>
          </a:xfrm>
          <a:prstGeom prst="rect">
            <a:avLst/>
          </a:prstGeom>
          <a:solidFill>
            <a:srgbClr val="39FF8F"/>
          </a:solidFill>
          <a:ln w="12700">
            <a:solidFill>
              <a:srgbClr val="39FF8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4078224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39F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LAYER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5800" y="4370832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Commodity (abstract) · Maize · Tomato · SimulationRecord · StorageType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132320" y="1188720"/>
            <a:ext cx="1691640" cy="3621024"/>
          </a:xfrm>
          <a:prstGeom prst="rect">
            <a:avLst/>
          </a:prstGeom>
          <a:solidFill>
            <a:srgbClr val="0F2040"/>
          </a:solidFill>
          <a:ln w="12700">
            <a:solidFill>
              <a:srgbClr val="1A2E5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78040" y="126187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205472" y="1627632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agritwin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205472" y="1865376"/>
            <a:ext cx="15727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205472" y="2194560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agritwin.ui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205472" y="2432304"/>
            <a:ext cx="15727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205472" y="2761488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agritwin.service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205472" y="2999232"/>
            <a:ext cx="15727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205472" y="3328416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agritwin.util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205472" y="3566160"/>
            <a:ext cx="15727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205472" y="3895344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agritwin.model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205472" y="4133088"/>
            <a:ext cx="15727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57200" y="47365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0B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classes · ~2,400 lines · Zero external dependencies (console build)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9FF8F"/>
          </a:solidFill>
          <a:ln w="12700">
            <a:solidFill>
              <a:srgbClr val="39FF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00B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 &amp; ALGORITHMS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FAO-Aligned Models Powering Every Simulation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4206240" cy="1170432"/>
          </a:xfrm>
          <a:prstGeom prst="rect">
            <a:avLst/>
          </a:prstGeom>
          <a:solidFill>
            <a:srgbClr val="0F2040"/>
          </a:solidFill>
          <a:ln w="15240">
            <a:solidFill>
              <a:srgbClr val="00FFD1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29768" y="1280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F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128016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Maize Decay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" y="1618488"/>
            <a:ext cx="3986784" cy="320040"/>
          </a:xfrm>
          <a:prstGeom prst="rect">
            <a:avLst/>
          </a:prstGeom>
          <a:solidFill>
            <a:srgbClr val="060E1E"/>
          </a:solidFill>
          <a:ln w="6350">
            <a:solidFill>
              <a:srgbClr val="1A2E5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63677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FF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remaining = P × (1 − r/100)^months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29768" y="1993392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Moisture &gt; 14% adds 0.5pp per degree; capped at 20%/month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09160" y="1188720"/>
            <a:ext cx="4206240" cy="1170432"/>
          </a:xfrm>
          <a:prstGeom prst="rect">
            <a:avLst/>
          </a:prstGeom>
          <a:solidFill>
            <a:srgbClr val="0F2040"/>
          </a:solidFill>
          <a:ln w="15240">
            <a:solidFill>
              <a:srgbClr val="00B5D8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18888" y="1280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303520" y="128016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Tomato Spoilage + Cold-Chain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18888" y="1618488"/>
            <a:ext cx="3986784" cy="320040"/>
          </a:xfrm>
          <a:prstGeom prst="rect">
            <a:avLst/>
          </a:prstGeom>
          <a:solidFill>
            <a:srgbClr val="060E1E"/>
          </a:solidFill>
          <a:ln w="6350">
            <a:solidFill>
              <a:srgbClr val="1A2E5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163677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FF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spoiled = P × min(1, (r × 0.6cold) × days / 100)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818888" y="1993392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storage cuts effective spoilage rate by 40%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" y="2514600"/>
            <a:ext cx="4206240" cy="1170432"/>
          </a:xfrm>
          <a:prstGeom prst="rect">
            <a:avLst/>
          </a:prstGeom>
          <a:solidFill>
            <a:srgbClr val="0F2040"/>
          </a:solidFill>
          <a:ln w="15240">
            <a:solidFill>
              <a:srgbClr val="39FF8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29768" y="2606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9F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14400" y="260604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Elasticity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29768" y="2944368"/>
            <a:ext cx="3986784" cy="320040"/>
          </a:xfrm>
          <a:prstGeom prst="rect">
            <a:avLst/>
          </a:prstGeom>
          <a:solidFill>
            <a:srgbClr val="060E1E"/>
          </a:solidFill>
          <a:ln w="6350">
            <a:solidFill>
              <a:srgbClr val="1A2E5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296265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FF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newPrice = P × (1 − 0.1 × surplus/demand)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29768" y="3319272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Surplus ratio clipped to [−1, 1] to prevent negative prices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09160" y="2514600"/>
            <a:ext cx="4206240" cy="1170432"/>
          </a:xfrm>
          <a:prstGeom prst="rect">
            <a:avLst/>
          </a:prstGeom>
          <a:solidFill>
            <a:srgbClr val="0F2040"/>
          </a:solidFill>
          <a:ln w="15240">
            <a:solidFill>
              <a:srgbClr val="FFB80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18888" y="2606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303520" y="260604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Demand Model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18888" y="2944368"/>
            <a:ext cx="3986784" cy="320040"/>
          </a:xfrm>
          <a:prstGeom prst="rect">
            <a:avLst/>
          </a:prstGeom>
          <a:solidFill>
            <a:srgbClr val="060E1E"/>
          </a:solidFill>
          <a:ln w="6350">
            <a:solidFill>
              <a:srgbClr val="1A2E5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296265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FF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demand = base × (1 + 0.15 × sin(2π(m−1)/12 − π/2))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818888" y="3319272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Peaks July (dry season), troughs January (harvest season)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560320" y="3840480"/>
            <a:ext cx="4023360" cy="1170432"/>
          </a:xfrm>
          <a:prstGeom prst="rect">
            <a:avLst/>
          </a:prstGeom>
          <a:solidFill>
            <a:srgbClr val="0F2040"/>
          </a:solidFill>
          <a:ln w="15240">
            <a:solidFill>
              <a:srgbClr val="00B5D8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2670048" y="39319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3154680" y="393192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Security Indicator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670048" y="4270248"/>
            <a:ext cx="3803904" cy="320040"/>
          </a:xfrm>
          <a:prstGeom prst="rect">
            <a:avLst/>
          </a:prstGeom>
          <a:solidFill>
            <a:srgbClr val="060E1E"/>
          </a:solidFill>
          <a:ln w="6350">
            <a:solidFill>
              <a:srgbClr val="1A2E5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0" y="428853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FF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FSI = min(100, production/demand × 100) %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2670048" y="4645152"/>
            <a:ext cx="38039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80% = Secure · 60-80% = Warning · &lt; 60% = Critical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00B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INTELLIGENCE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Zambian Government Rules, Automated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8503920" cy="566928"/>
          </a:xfrm>
          <a:prstGeom prst="rect">
            <a:avLst/>
          </a:prstGeom>
          <a:solidFill>
            <a:srgbClr val="0F2040"/>
          </a:solidFill>
          <a:ln w="6350">
            <a:solidFill>
              <a:srgbClr val="1A2E52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43000"/>
            <a:ext cx="64008" cy="566928"/>
          </a:xfrm>
          <a:prstGeom prst="rect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0700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 Reserve Threshold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44475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&lt; 500,000 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0" y="1271016"/>
            <a:ext cx="1280160" cy="274320"/>
          </a:xfrm>
          <a:prstGeom prst="rect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127101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663440" y="123444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Food Reserve Agency statutory minimum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" y="1783080"/>
            <a:ext cx="8503920" cy="566928"/>
          </a:xfrm>
          <a:prstGeom prst="rect">
            <a:avLst/>
          </a:prstGeom>
          <a:solidFill>
            <a:srgbClr val="0F2040"/>
          </a:solidFill>
          <a:ln w="6350">
            <a:solidFill>
              <a:srgbClr val="1A2E52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1783080"/>
            <a:ext cx="64008" cy="566928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184708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Review Trigger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208483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Surplus &gt; 20% of production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0" y="1911096"/>
            <a:ext cx="1280160" cy="274320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0" y="191109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63440" y="187452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license review before domestic supply suffers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2423160"/>
            <a:ext cx="8503920" cy="566928"/>
          </a:xfrm>
          <a:prstGeom prst="rect">
            <a:avLst/>
          </a:prstGeom>
          <a:solidFill>
            <a:srgbClr val="0F2040"/>
          </a:solidFill>
          <a:ln w="6350">
            <a:solidFill>
              <a:srgbClr val="1A2E52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2423160"/>
            <a:ext cx="64008" cy="566928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248716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Maize Storage Age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" y="272491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&gt; 6 months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00400" y="2551176"/>
            <a:ext cx="1280160" cy="274320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0" y="255117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663440" y="251460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Grain quality and aflatoxin risk escalation zone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0040" y="3063240"/>
            <a:ext cx="8503920" cy="566928"/>
          </a:xfrm>
          <a:prstGeom prst="rect">
            <a:avLst/>
          </a:prstGeom>
          <a:solidFill>
            <a:srgbClr val="0F2040"/>
          </a:solidFill>
          <a:ln w="6350">
            <a:solidFill>
              <a:srgbClr val="1A2E52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3063240"/>
            <a:ext cx="64008" cy="566928"/>
          </a:xfrm>
          <a:prstGeom prst="rect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31272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Aflatoxin Detection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2920" y="336499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Moisture &gt; 14% for 3+ months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00400" y="3191256"/>
            <a:ext cx="1280160" cy="274320"/>
          </a:xfrm>
          <a:prstGeom prst="rect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0" y="319125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663440" y="315468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Fungal toxin risk — world-leading detection model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20040" y="3703320"/>
            <a:ext cx="8503920" cy="566928"/>
          </a:xfrm>
          <a:prstGeom prst="rect">
            <a:avLst/>
          </a:prstGeom>
          <a:solidFill>
            <a:srgbClr val="0F2040"/>
          </a:solidFill>
          <a:ln w="6350">
            <a:solidFill>
              <a:srgbClr val="1A2E52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0040" y="3703320"/>
            <a:ext cx="64008" cy="566928"/>
          </a:xfrm>
          <a:prstGeom prst="rect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376732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Tomato Shelf-Life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02920" y="400507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stored &gt; shelf-life days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200400" y="3831336"/>
            <a:ext cx="1280160" cy="274320"/>
          </a:xfrm>
          <a:prstGeom prst="rect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0" y="383133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663440" y="379476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spoilage alert and waste accounting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20040" y="4343400"/>
            <a:ext cx="8503920" cy="566928"/>
          </a:xfrm>
          <a:prstGeom prst="rect">
            <a:avLst/>
          </a:prstGeom>
          <a:solidFill>
            <a:srgbClr val="0F2040"/>
          </a:solidFill>
          <a:ln w="6350">
            <a:solidFill>
              <a:srgbClr val="1A2E52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20040" y="4343400"/>
            <a:ext cx="64008" cy="566928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" y="440740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Price Floor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02920" y="464515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price &lt; floor price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200400" y="4471416"/>
            <a:ext cx="1280160" cy="274320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00400" y="447141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663440" y="443484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smallholder margins from market collapse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320040" y="4846320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0B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thresholds stored as public constants — one-line edits when policy changes.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5D8"/>
          </a:solidFill>
          <a:ln w="12700">
            <a:solidFill>
              <a:srgbClr val="00B5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00B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Interfaces, One Simulation Engine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3977640" cy="3474720"/>
          </a:xfrm>
          <a:prstGeom prst="rect">
            <a:avLst/>
          </a:prstGeom>
          <a:solidFill>
            <a:srgbClr val="050D1A"/>
          </a:solidFill>
          <a:ln w="12700">
            <a:solidFill>
              <a:srgbClr val="1A2E52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43000"/>
            <a:ext cx="3977640" cy="274320"/>
          </a:xfrm>
          <a:prstGeom prst="rect">
            <a:avLst/>
          </a:prstGeom>
          <a:solidFill>
            <a:srgbClr val="1A2E52"/>
          </a:solidFill>
          <a:ln w="12700">
            <a:solidFill>
              <a:srgbClr val="1A2E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61288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● ●  Terminal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1508760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FF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AgriTwin-ZM v1.0 -- Digital Twin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11480" y="1714500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────────────────────────────────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11480" y="1920240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1) Run Maize Simulation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11480" y="2125980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2) Run Tomato Simulation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11480" y="2331720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3) View Reports (this session)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11480" y="2537460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4) Load Previous Simulation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11480" y="2743200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5) Save Current Simulation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11480" y="2948940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7) Export season summary (CSV)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11480" y="3154680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B5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Choose: 1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11480" y="3360420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11480" y="3566160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9FF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[PASS] Test 1 (Surplus)   ✓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11480" y="3771900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9FF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[PASS] Test 3 (Maize Loss) ✓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11480" y="3977640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9FF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[PASS] Test 6 (FRA Alert)  ✓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11480" y="4183380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FF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Results: 18 passed, 0 failed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20040" y="4663440"/>
            <a:ext cx="3977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Mode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0040" y="4864608"/>
            <a:ext cx="3977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any JDK — no dependencies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480560" y="1143000"/>
            <a:ext cx="4343400" cy="3474720"/>
          </a:xfrm>
          <a:prstGeom prst="rect">
            <a:avLst/>
          </a:prstGeom>
          <a:solidFill>
            <a:srgbClr val="0F2040"/>
          </a:solidFill>
          <a:ln w="15240">
            <a:solidFill>
              <a:srgbClr val="00B5D8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480560" y="1143000"/>
            <a:ext cx="1097280" cy="3474720"/>
          </a:xfrm>
          <a:prstGeom prst="rect">
            <a:avLst/>
          </a:prstGeom>
          <a:solidFill>
            <a:srgbClr val="060E1E"/>
          </a:solidFill>
          <a:ln w="12700">
            <a:solidFill>
              <a:srgbClr val="060E1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26280" y="1161288"/>
            <a:ext cx="100584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480560" y="1719072"/>
            <a:ext cx="1097280" cy="576072"/>
          </a:xfrm>
          <a:prstGeom prst="rect">
            <a:avLst/>
          </a:prstGeom>
          <a:solidFill>
            <a:srgbClr val="1A2E52"/>
          </a:solidFill>
          <a:ln w="12700">
            <a:solidFill>
              <a:srgbClr val="1A2E5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26280" y="1737360"/>
            <a:ext cx="100584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F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526280" y="2313432"/>
            <a:ext cx="100584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526280" y="2889504"/>
            <a:ext cx="100584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Alerts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526280" y="3465576"/>
            <a:ext cx="100584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526280" y="4041648"/>
            <a:ext cx="100584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669280" y="1207008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5669280" y="1600200"/>
            <a:ext cx="1508760" cy="548640"/>
          </a:xfrm>
          <a:prstGeom prst="rect">
            <a:avLst/>
          </a:prstGeom>
          <a:solidFill>
            <a:srgbClr val="060E1E"/>
          </a:solidFill>
          <a:ln w="6350">
            <a:solidFill>
              <a:srgbClr val="1A2E5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0" y="1636776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F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+7,033 t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669280" y="191109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Surplus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7296912" y="1600200"/>
            <a:ext cx="1508760" cy="548640"/>
          </a:xfrm>
          <a:prstGeom prst="rect">
            <a:avLst/>
          </a:prstGeom>
          <a:solidFill>
            <a:srgbClr val="060E1E"/>
          </a:solidFill>
          <a:ln w="6350">
            <a:solidFill>
              <a:srgbClr val="1A2E5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296912" y="1636776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F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296912" y="191109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FSI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669280" y="2258568"/>
            <a:ext cx="1508760" cy="548640"/>
          </a:xfrm>
          <a:prstGeom prst="rect">
            <a:avLst/>
          </a:prstGeom>
          <a:solidFill>
            <a:srgbClr val="060E1E"/>
          </a:solidFill>
          <a:ln w="6350">
            <a:solidFill>
              <a:srgbClr val="1A2E5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69280" y="2295144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F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ZMW 18.6M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669280" y="25694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7296912" y="2258568"/>
            <a:ext cx="1508760" cy="548640"/>
          </a:xfrm>
          <a:prstGeom prst="rect">
            <a:avLst/>
          </a:prstGeom>
          <a:solidFill>
            <a:srgbClr val="060E1E"/>
          </a:solidFill>
          <a:ln w="6350">
            <a:solidFill>
              <a:srgbClr val="1A2E5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296912" y="2295144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F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t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7296912" y="25694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669280" y="2980944"/>
            <a:ext cx="3063240" cy="1417320"/>
          </a:xfrm>
          <a:prstGeom prst="rect">
            <a:avLst/>
          </a:prstGeom>
          <a:solidFill>
            <a:srgbClr val="060E1E"/>
          </a:solidFill>
          <a:ln w="6350">
            <a:solidFill>
              <a:srgbClr val="1A2E5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715000" y="3017520"/>
            <a:ext cx="2971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Stock vs Demand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5852160" y="3346704"/>
            <a:ext cx="320040" cy="822960"/>
          </a:xfrm>
          <a:prstGeom prst="rect">
            <a:avLst/>
          </a:prstGeom>
          <a:solidFill>
            <a:srgbClr val="00B5D8"/>
          </a:solidFill>
          <a:ln w="12700">
            <a:solidFill>
              <a:srgbClr val="00B5D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327648" y="3511296"/>
            <a:ext cx="320040" cy="658368"/>
          </a:xfrm>
          <a:prstGeom prst="rect">
            <a:avLst/>
          </a:prstGeom>
          <a:solidFill>
            <a:srgbClr val="00B5D8"/>
          </a:solidFill>
          <a:ln w="12700">
            <a:solidFill>
              <a:srgbClr val="00B5D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803136" y="3621024"/>
            <a:ext cx="320040" cy="548640"/>
          </a:xfrm>
          <a:prstGeom prst="rect">
            <a:avLst/>
          </a:prstGeom>
          <a:solidFill>
            <a:srgbClr val="00B5D8"/>
          </a:solidFill>
          <a:ln w="12700">
            <a:solidFill>
              <a:srgbClr val="00B5D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278624" y="3712464"/>
            <a:ext cx="320040" cy="457200"/>
          </a:xfrm>
          <a:prstGeom prst="rect">
            <a:avLst/>
          </a:prstGeom>
          <a:solidFill>
            <a:srgbClr val="00B5D8"/>
          </a:solidFill>
          <a:ln w="12700">
            <a:solidFill>
              <a:srgbClr val="00B5D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754112" y="3803904"/>
            <a:ext cx="320040" cy="365760"/>
          </a:xfrm>
          <a:prstGeom prst="rect">
            <a:avLst/>
          </a:prstGeom>
          <a:solidFill>
            <a:srgbClr val="00B5D8"/>
          </a:solidFill>
          <a:ln w="12700">
            <a:solidFill>
              <a:srgbClr val="00B5D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229600" y="3849624"/>
            <a:ext cx="320040" cy="320040"/>
          </a:xfrm>
          <a:prstGeom prst="rect">
            <a:avLst/>
          </a:prstGeom>
          <a:solidFill>
            <a:srgbClr val="00B5D8"/>
          </a:solidFill>
          <a:ln w="12700">
            <a:solidFill>
              <a:srgbClr val="00B5D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480560" y="4663440"/>
            <a:ext cx="4343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JavaFX GUI (optional)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4480560" y="4864608"/>
            <a:ext cx="4343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r>
              <a:rPr lang="en-US" sz="900">
                <a:solidFill>
                  <a:srgbClr val="7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>
                <a:solidFill>
                  <a:srgbClr val="7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tabs · Charts · Policy checker · Reports grid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FFD1"/>
          </a:solidFill>
          <a:ln w="12700">
            <a:solidFill>
              <a:srgbClr val="00FFD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00B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Simulation Run — 10 Steps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115568"/>
            <a:ext cx="4206240" cy="667512"/>
          </a:xfrm>
          <a:prstGeom prst="rect">
            <a:avLst/>
          </a:prstGeom>
          <a:solidFill>
            <a:srgbClr val="0F2040"/>
          </a:solidFill>
          <a:ln w="12700">
            <a:solidFill>
              <a:srgbClr val="00FFD1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15568"/>
            <a:ext cx="457200" cy="667512"/>
          </a:xfrm>
          <a:prstGeom prst="rect">
            <a:avLst/>
          </a:prstGeom>
          <a:solidFill>
            <a:srgbClr val="00FFD1"/>
          </a:solidFill>
          <a:ln w="12700">
            <a:solidFill>
              <a:srgbClr val="00FFD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271016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117957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145389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Production, demand, price, moisture, months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09160" y="1115568"/>
            <a:ext cx="4206240" cy="667512"/>
          </a:xfrm>
          <a:prstGeom prst="rect">
            <a:avLst/>
          </a:prstGeom>
          <a:solidFill>
            <a:srgbClr val="0F2040"/>
          </a:solidFill>
          <a:ln w="12700">
            <a:solidFill>
              <a:srgbClr val="00B5D8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115568"/>
            <a:ext cx="457200" cy="667512"/>
          </a:xfrm>
          <a:prstGeom prst="rect">
            <a:avLst/>
          </a:prstGeom>
          <a:solidFill>
            <a:srgbClr val="00B5D8"/>
          </a:solidFill>
          <a:ln w="12700">
            <a:solidFill>
              <a:srgbClr val="00B5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1271016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257800" y="117957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Maize Object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257800" y="145389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Commodity POJO created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" y="1892808"/>
            <a:ext cx="4206240" cy="667512"/>
          </a:xfrm>
          <a:prstGeom prst="rect">
            <a:avLst/>
          </a:prstGeom>
          <a:solidFill>
            <a:srgbClr val="0F2040"/>
          </a:solidFill>
          <a:ln w="12700">
            <a:solidFill>
              <a:srgbClr val="39FF8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1892808"/>
            <a:ext cx="457200" cy="667512"/>
          </a:xfrm>
          <a:prstGeom prst="rect">
            <a:avLst/>
          </a:prstGeom>
          <a:solidFill>
            <a:srgbClr val="39FF8F"/>
          </a:solidFill>
          <a:ln w="12700">
            <a:solidFill>
              <a:srgbClr val="39FF8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048256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68680" y="195681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Rate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68680" y="223113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Moisture adjustment + cap applied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09160" y="1892808"/>
            <a:ext cx="4206240" cy="667512"/>
          </a:xfrm>
          <a:prstGeom prst="rect">
            <a:avLst/>
          </a:prstGeom>
          <a:solidFill>
            <a:srgbClr val="0F2040"/>
          </a:solidFill>
          <a:ln w="12700">
            <a:solidFill>
              <a:srgbClr val="00B5D8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1892808"/>
            <a:ext cx="457200" cy="667512"/>
          </a:xfrm>
          <a:prstGeom prst="rect">
            <a:avLst/>
          </a:prstGeom>
          <a:solidFill>
            <a:srgbClr val="00B5D8"/>
          </a:solidFill>
          <a:ln w="12700">
            <a:solidFill>
              <a:srgbClr val="00B5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2048256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257800" y="195681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Decay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257800" y="223113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= P × (1−r)^months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" y="2670048"/>
            <a:ext cx="4206240" cy="667512"/>
          </a:xfrm>
          <a:prstGeom prst="rect">
            <a:avLst/>
          </a:prstGeom>
          <a:solidFill>
            <a:srgbClr val="0F2040"/>
          </a:solidFill>
          <a:ln w="12700">
            <a:solidFill>
              <a:srgbClr val="00FFD1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2670048"/>
            <a:ext cx="457200" cy="667512"/>
          </a:xfrm>
          <a:prstGeom prst="rect">
            <a:avLst/>
          </a:prstGeom>
          <a:solidFill>
            <a:srgbClr val="00FFD1"/>
          </a:solidFill>
          <a:ln w="12700">
            <a:solidFill>
              <a:srgbClr val="00FFD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2825496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68680" y="273405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Demand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68680" y="300837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Sinusoidal month adjustment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09160" y="2670048"/>
            <a:ext cx="4206240" cy="667512"/>
          </a:xfrm>
          <a:prstGeom prst="rect">
            <a:avLst/>
          </a:prstGeom>
          <a:solidFill>
            <a:srgbClr val="0F2040"/>
          </a:solidFill>
          <a:ln w="12700">
            <a:solidFill>
              <a:srgbClr val="39FF8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09160" y="2670048"/>
            <a:ext cx="457200" cy="667512"/>
          </a:xfrm>
          <a:prstGeom prst="rect">
            <a:avLst/>
          </a:prstGeom>
          <a:solidFill>
            <a:srgbClr val="39FF8F"/>
          </a:solidFill>
          <a:ln w="12700">
            <a:solidFill>
              <a:srgbClr val="39FF8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09160" y="2825496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5257800" y="273405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Surplus &amp; Revenue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257800" y="300837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Economics calculated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20040" y="3447288"/>
            <a:ext cx="4206240" cy="667512"/>
          </a:xfrm>
          <a:prstGeom prst="rect">
            <a:avLst/>
          </a:prstGeom>
          <a:solidFill>
            <a:srgbClr val="0F2040"/>
          </a:solidFill>
          <a:ln w="12700">
            <a:solidFill>
              <a:srgbClr val="FFB80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20040" y="3447288"/>
            <a:ext cx="457200" cy="667512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3602736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868680" y="351129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Elasticity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68680" y="378561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price adjusted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709160" y="3447288"/>
            <a:ext cx="4206240" cy="667512"/>
          </a:xfrm>
          <a:prstGeom prst="rect">
            <a:avLst/>
          </a:prstGeom>
          <a:solidFill>
            <a:srgbClr val="0F2040"/>
          </a:solidFill>
          <a:ln w="12700">
            <a:solidFill>
              <a:srgbClr val="00B5D8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09160" y="3447288"/>
            <a:ext cx="457200" cy="667512"/>
          </a:xfrm>
          <a:prstGeom prst="rect">
            <a:avLst/>
          </a:prstGeom>
          <a:solidFill>
            <a:srgbClr val="00B5D8"/>
          </a:solidFill>
          <a:ln w="12700">
            <a:solidFill>
              <a:srgbClr val="00B5D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09160" y="3602736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5257800" y="351129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FSI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257800" y="378561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security % computed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20040" y="4224528"/>
            <a:ext cx="4206240" cy="667512"/>
          </a:xfrm>
          <a:prstGeom prst="rect">
            <a:avLst/>
          </a:prstGeom>
          <a:solidFill>
            <a:srgbClr val="0F2040"/>
          </a:solidFill>
          <a:ln w="12700">
            <a:solidFill>
              <a:srgbClr val="FF4D6D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320040" y="4224528"/>
            <a:ext cx="457200" cy="667512"/>
          </a:xfrm>
          <a:prstGeom prst="rect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0040" y="4379976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868680" y="428853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Engine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868680" y="456285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rules evaluated → alert string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709160" y="4224528"/>
            <a:ext cx="4206240" cy="667512"/>
          </a:xfrm>
          <a:prstGeom prst="rect">
            <a:avLst/>
          </a:prstGeom>
          <a:solidFill>
            <a:srgbClr val="0F2040"/>
          </a:solidFill>
          <a:ln w="12700">
            <a:solidFill>
              <a:srgbClr val="00FFD1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4709160" y="4224528"/>
            <a:ext cx="457200" cy="667512"/>
          </a:xfrm>
          <a:prstGeom prst="rect">
            <a:avLst/>
          </a:prstGeom>
          <a:solidFill>
            <a:srgbClr val="00FFD1"/>
          </a:solidFill>
          <a:ln w="12700">
            <a:solidFill>
              <a:srgbClr val="00FFD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09160" y="4379976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500" dirty="0"/>
          </a:p>
        </p:txBody>
      </p:sp>
      <p:sp>
        <p:nvSpPr>
          <p:cNvPr id="53" name="Text 51"/>
          <p:cNvSpPr/>
          <p:nvPr/>
        </p:nvSpPr>
        <p:spPr>
          <a:xfrm>
            <a:off x="5257800" y="428853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SimulationRecord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5257800" y="456285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saved → report generated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9FF8F"/>
          </a:solidFill>
          <a:ln w="12700">
            <a:solidFill>
              <a:srgbClr val="39FF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00B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Tests. 0 Failures. Production-Ready Logic.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1828800" cy="1371600"/>
          </a:xfrm>
          <a:prstGeom prst="rect">
            <a:avLst/>
          </a:prstGeom>
          <a:solidFill>
            <a:srgbClr val="0F2040"/>
          </a:solidFill>
          <a:ln w="19050">
            <a:solidFill>
              <a:srgbClr val="00B5D8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70432"/>
            <a:ext cx="1828800" cy="36576"/>
          </a:xfrm>
          <a:prstGeom prst="rect">
            <a:avLst/>
          </a:prstGeom>
          <a:solidFill>
            <a:srgbClr val="39FF8F"/>
          </a:solidFill>
          <a:ln w="12700">
            <a:solidFill>
              <a:srgbClr val="39FF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307592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39F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18/18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11480" y="185623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331720" y="1170432"/>
            <a:ext cx="1828800" cy="1371600"/>
          </a:xfrm>
          <a:prstGeom prst="rect">
            <a:avLst/>
          </a:prstGeom>
          <a:solidFill>
            <a:srgbClr val="0F2040"/>
          </a:solidFill>
          <a:ln w="19050">
            <a:solidFill>
              <a:srgbClr val="00B5D8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331720" y="1170432"/>
            <a:ext cx="1828800" cy="36576"/>
          </a:xfrm>
          <a:prstGeom prst="rect">
            <a:avLst/>
          </a:prstGeom>
          <a:solidFill>
            <a:srgbClr val="00FFD1"/>
          </a:solidFill>
          <a:ln w="12700">
            <a:solidFill>
              <a:srgbClr val="00FF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31720" y="1307592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F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2423160" y="185623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43400" y="1170432"/>
            <a:ext cx="1828800" cy="1371600"/>
          </a:xfrm>
          <a:prstGeom prst="rect">
            <a:avLst/>
          </a:prstGeom>
          <a:solidFill>
            <a:srgbClr val="0F2040"/>
          </a:solidFill>
          <a:ln w="19050">
            <a:solidFill>
              <a:srgbClr val="00B5D8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43400" y="1170432"/>
            <a:ext cx="1828800" cy="36576"/>
          </a:xfrm>
          <a:prstGeom prst="rect">
            <a:avLst/>
          </a:prstGeom>
          <a:solidFill>
            <a:srgbClr val="00B5D8"/>
          </a:solidFill>
          <a:ln w="12700">
            <a:solidFill>
              <a:srgbClr val="00B5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43400" y="1307592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B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±0.5t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4434840" y="185623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Tolerance (EPS)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355080" y="1170432"/>
            <a:ext cx="2468880" cy="1371600"/>
          </a:xfrm>
          <a:prstGeom prst="rect">
            <a:avLst/>
          </a:prstGeom>
          <a:solidFill>
            <a:srgbClr val="0F2040"/>
          </a:solidFill>
          <a:ln w="19050">
            <a:solidFill>
              <a:srgbClr val="00B5D8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55080" y="1170432"/>
            <a:ext cx="2468880" cy="36576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5080" y="1307592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JUnit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6446520" y="185623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main() harness, no deps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2697480"/>
            <a:ext cx="8503920" cy="2240280"/>
          </a:xfrm>
          <a:prstGeom prst="rect">
            <a:avLst/>
          </a:prstGeom>
          <a:solidFill>
            <a:srgbClr val="0F2040"/>
          </a:solidFill>
          <a:ln w="12700">
            <a:solidFill>
              <a:srgbClr val="1A2E5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7889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Suite Coverage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318211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9FF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[PASS] Test 1–2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377440" y="318211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Surplus calculation &amp; price elasticity direction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709160" y="318211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9FF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[PASS] Test 3–4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629400" y="318211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Compounded maize loss · Cold vs open tomato spoilage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57200" y="371246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9FF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[PASS] Test 5–6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377440" y="3712464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security shortfall indicator · FRA reserve alert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709160" y="371246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9FF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[PASS] Test 7–8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629400" y="3712464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save/reload round-trip · Zero-days waste = 0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57200" y="424281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9FF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[PASS] Test 9–10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377440" y="4242816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production throws · Missing file throws IOException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709160" y="424281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9FF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[PASS] Test 11–14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629400" y="4242816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Infinite stock OK · Zero surplus keeps price · Seasonal demand · Moisture loss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57200" y="477316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9FF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[PASS] Test 15–18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331720" y="4773168"/>
            <a:ext cx="6492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schedule size · Aflatoxin trigger · Season summary · CSV header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20040" y="5029200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TestRunner.java · Shift+F6 in NetBeans · Exit code 1 on any failure for CI integration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5D8"/>
          </a:solidFill>
          <a:ln w="12700">
            <a:solidFill>
              <a:srgbClr val="00B5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00B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Phases to National Scale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2743200" cy="3657600"/>
          </a:xfrm>
          <a:prstGeom prst="rect">
            <a:avLst/>
          </a:prstGeom>
          <a:solidFill>
            <a:srgbClr val="0F2040"/>
          </a:solidFill>
          <a:ln w="19050">
            <a:solidFill>
              <a:srgbClr val="00FFD1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88720"/>
            <a:ext cx="2743200" cy="54864"/>
          </a:xfrm>
          <a:prstGeom prst="rect">
            <a:avLst/>
          </a:prstGeom>
          <a:solidFill>
            <a:srgbClr val="00FFD1"/>
          </a:solidFill>
          <a:ln w="12700">
            <a:solidFill>
              <a:srgbClr val="00FFD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298448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F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594360" y="1810512"/>
            <a:ext cx="2194560" cy="256032"/>
          </a:xfrm>
          <a:prstGeom prst="rect">
            <a:avLst/>
          </a:prstGeom>
          <a:solidFill>
            <a:srgbClr val="00FFD1">
              <a:alpha val="25000"/>
            </a:srgbClr>
          </a:solidFill>
          <a:ln w="12700">
            <a:solidFill>
              <a:srgbClr val="00FF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81051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F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— SHIPPED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57200" y="2148840"/>
            <a:ext cx="2487168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+ JavaFX GUI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Maize &amp; tomato simulation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policy rules (FRA, aflatoxin, shelf-life…)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18-test suite, 0 failures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&amp; pipe-delimited export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 + Service Layer architecture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46120" y="1188720"/>
            <a:ext cx="2743200" cy="3657600"/>
          </a:xfrm>
          <a:prstGeom prst="rect">
            <a:avLst/>
          </a:prstGeom>
          <a:solidFill>
            <a:srgbClr val="0F2040"/>
          </a:solidFill>
          <a:ln w="19050">
            <a:solidFill>
              <a:srgbClr val="00B5D8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1188720"/>
            <a:ext cx="2743200" cy="54864"/>
          </a:xfrm>
          <a:prstGeom prst="rect">
            <a:avLst/>
          </a:prstGeom>
          <a:solidFill>
            <a:srgbClr val="00B5D8"/>
          </a:solidFill>
          <a:ln w="12700">
            <a:solidFill>
              <a:srgbClr val="00B5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1298448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B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v2.0</a:t>
            </a:r>
            <a:endParaRPr lang="en-US" sz="3200" dirty="0"/>
          </a:p>
        </p:txBody>
      </p:sp>
      <p:sp>
        <p:nvSpPr>
          <p:cNvPr id="14" name="Shape 12"/>
          <p:cNvSpPr/>
          <p:nvPr/>
        </p:nvSpPr>
        <p:spPr>
          <a:xfrm>
            <a:off x="3520440" y="1810512"/>
            <a:ext cx="2194560" cy="256032"/>
          </a:xfrm>
          <a:prstGeom prst="rect">
            <a:avLst/>
          </a:prstGeom>
          <a:solidFill>
            <a:srgbClr val="00B5D8">
              <a:alpha val="25000"/>
            </a:srgbClr>
          </a:solidFill>
          <a:ln w="12700">
            <a:solidFill>
              <a:srgbClr val="00B5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20440" y="181051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B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 — IN PLANNING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383280" y="2148840"/>
            <a:ext cx="2487168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IoT moisture sensor integration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/ cloud database persistence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demand forecasting (ML model)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for ministry dashboards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Cassava + groundnut commodity models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Multi-region simulation (all 10 provinces)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72200" y="1188720"/>
            <a:ext cx="2743200" cy="3657600"/>
          </a:xfrm>
          <a:prstGeom prst="rect">
            <a:avLst/>
          </a:prstGeom>
          <a:solidFill>
            <a:srgbClr val="0F2040"/>
          </a:solidFill>
          <a:ln w="19050">
            <a:solidFill>
              <a:srgbClr val="39FF8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72200" y="1188720"/>
            <a:ext cx="2743200" cy="54864"/>
          </a:xfrm>
          <a:prstGeom prst="rect">
            <a:avLst/>
          </a:prstGeom>
          <a:solidFill>
            <a:srgbClr val="39FF8F"/>
          </a:solidFill>
          <a:ln w="12700">
            <a:solidFill>
              <a:srgbClr val="39FF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72200" y="1298448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39F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v3.0</a:t>
            </a:r>
            <a:endParaRPr lang="en-US" sz="3200" dirty="0"/>
          </a:p>
        </p:txBody>
      </p:sp>
      <p:sp>
        <p:nvSpPr>
          <p:cNvPr id="20" name="Shape 18"/>
          <p:cNvSpPr/>
          <p:nvPr/>
        </p:nvSpPr>
        <p:spPr>
          <a:xfrm>
            <a:off x="6446520" y="1810512"/>
            <a:ext cx="2194560" cy="256032"/>
          </a:xfrm>
          <a:prstGeom prst="rect">
            <a:avLst/>
          </a:prstGeom>
          <a:solidFill>
            <a:srgbClr val="39FF8F">
              <a:alpha val="25000"/>
            </a:srgbClr>
          </a:solidFill>
          <a:ln w="12700">
            <a:solidFill>
              <a:srgbClr val="39FF8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181051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9F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 — VISION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309360" y="2148840"/>
            <a:ext cx="2487168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supply-chain traceability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for smallholder farmers (USSD fallback)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yield-estimation integration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Pan-African commodity module library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aflatoxin early warning system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API for NGO / development bank tools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00B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Revenue Streams, One Core Platform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4206240" cy="1115568"/>
          </a:xfrm>
          <a:prstGeom prst="rect">
            <a:avLst/>
          </a:prstGeom>
          <a:solidFill>
            <a:srgbClr val="0F2040"/>
          </a:solidFill>
          <a:ln w="16510">
            <a:solidFill>
              <a:srgbClr val="00B5D8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70432"/>
            <a:ext cx="4206240" cy="45720"/>
          </a:xfrm>
          <a:prstGeom prst="rect">
            <a:avLst/>
          </a:prstGeom>
          <a:solidFill>
            <a:srgbClr val="00B5D8"/>
          </a:solidFill>
          <a:ln w="12700">
            <a:solidFill>
              <a:srgbClr val="00B5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6187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SaaS License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536192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0B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ZMW 150k–500k/yr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457200" y="190195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of Agriculture, FRA, Provincial Offices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09160" y="1170432"/>
            <a:ext cx="4206240" cy="1115568"/>
          </a:xfrm>
          <a:prstGeom prst="rect">
            <a:avLst/>
          </a:prstGeom>
          <a:solidFill>
            <a:srgbClr val="0F2040"/>
          </a:solidFill>
          <a:ln w="16510">
            <a:solidFill>
              <a:srgbClr val="00FFD1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170432"/>
            <a:ext cx="4206240" cy="45720"/>
          </a:xfrm>
          <a:prstGeom prst="rect">
            <a:avLst/>
          </a:prstGeom>
          <a:solidFill>
            <a:srgbClr val="00FFD1"/>
          </a:solidFill>
          <a:ln w="12700">
            <a:solidFill>
              <a:srgbClr val="00FFD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26187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 / Development Bank Data API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0" y="1536192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0F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$8k–$30k/yr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4846320" y="190195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USAID, World Bank, AfDB, WFP — already demand this data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" y="2432304"/>
            <a:ext cx="4206240" cy="1115568"/>
          </a:xfrm>
          <a:prstGeom prst="rect">
            <a:avLst/>
          </a:prstGeom>
          <a:solidFill>
            <a:srgbClr val="0F2040"/>
          </a:solidFill>
          <a:ln w="16510">
            <a:solidFill>
              <a:srgbClr val="39FF8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432304"/>
            <a:ext cx="4206240" cy="45720"/>
          </a:xfrm>
          <a:prstGeom prst="rect">
            <a:avLst/>
          </a:prstGeom>
          <a:solidFill>
            <a:srgbClr val="39FF8F"/>
          </a:solidFill>
          <a:ln w="12700">
            <a:solidFill>
              <a:srgbClr val="39FF8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52374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Commodity Trader Analytics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2798064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39F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ZMW 80k–200k/yr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457200" y="3163824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ZNFU affiliates, commodity traders, exporters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09160" y="2432304"/>
            <a:ext cx="4206240" cy="1115568"/>
          </a:xfrm>
          <a:prstGeom prst="rect">
            <a:avLst/>
          </a:prstGeom>
          <a:solidFill>
            <a:srgbClr val="0F2040"/>
          </a:solidFill>
          <a:ln w="16510">
            <a:solidFill>
              <a:srgbClr val="FFB80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2432304"/>
            <a:ext cx="4206240" cy="45720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52374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Risk Modelling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46320" y="2798064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$5k–$20k / crop cycle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4846320" y="3163824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insurers underwriting smallholder policies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20040" y="3767328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0B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→ License → Scale — low CAC via institutional relationships already in place through University of Lusaka.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" y="4114800"/>
            <a:ext cx="2743200" cy="914400"/>
          </a:xfrm>
          <a:prstGeom prst="rect">
            <a:avLst/>
          </a:prstGeom>
          <a:solidFill>
            <a:srgbClr val="0F2040"/>
          </a:solidFill>
          <a:ln w="16510">
            <a:solidFill>
              <a:srgbClr val="00FFD1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4114800"/>
            <a:ext cx="2743200" cy="45720"/>
          </a:xfrm>
          <a:prstGeom prst="rect">
            <a:avLst/>
          </a:prstGeom>
          <a:solidFill>
            <a:srgbClr val="00FFD1"/>
          </a:solidFill>
          <a:ln w="12700">
            <a:solidFill>
              <a:srgbClr val="00FFD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4169664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F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3–6 months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411480" y="466344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 period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46120" y="4114800"/>
            <a:ext cx="2743200" cy="914400"/>
          </a:xfrm>
          <a:prstGeom prst="rect">
            <a:avLst/>
          </a:prstGeom>
          <a:solidFill>
            <a:srgbClr val="0F2040"/>
          </a:solidFill>
          <a:ln w="16510">
            <a:solidFill>
              <a:srgbClr val="00B5D8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46120" y="4114800"/>
            <a:ext cx="2743200" cy="45720"/>
          </a:xfrm>
          <a:prstGeom prst="rect">
            <a:avLst/>
          </a:prstGeom>
          <a:solidFill>
            <a:srgbClr val="00B5D8"/>
          </a:solidFill>
          <a:ln w="12700">
            <a:solidFill>
              <a:srgbClr val="00B5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46120" y="4169664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B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80%+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3337560" y="466344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 (SaaS)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172200" y="4114800"/>
            <a:ext cx="2743200" cy="914400"/>
          </a:xfrm>
          <a:prstGeom prst="rect">
            <a:avLst/>
          </a:prstGeom>
          <a:solidFill>
            <a:srgbClr val="0F2040"/>
          </a:solidFill>
          <a:ln w="16510">
            <a:solidFill>
              <a:srgbClr val="39FF8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72200" y="4114800"/>
            <a:ext cx="2743200" cy="45720"/>
          </a:xfrm>
          <a:prstGeom prst="rect">
            <a:avLst/>
          </a:prstGeom>
          <a:solidFill>
            <a:srgbClr val="39FF8F"/>
          </a:solidFill>
          <a:ln w="12700">
            <a:solidFill>
              <a:srgbClr val="39FF8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72200" y="4169664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9F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$2M+</a:t>
            </a:r>
            <a:endParaRPr lang="en-US" sz="2600" dirty="0"/>
          </a:p>
        </p:txBody>
      </p:sp>
      <p:sp>
        <p:nvSpPr>
          <p:cNvPr id="37" name="Text 35"/>
          <p:cNvSpPr/>
          <p:nvPr/>
        </p:nvSpPr>
        <p:spPr>
          <a:xfrm>
            <a:off x="6263640" y="466344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5-yr revenue target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FFD1"/>
          </a:solidFill>
          <a:ln w="12700">
            <a:solidFill>
              <a:srgbClr val="00FFD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00B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Specialists. One Platform.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4206240" cy="667512"/>
          </a:xfrm>
          <a:prstGeom prst="rect">
            <a:avLst/>
          </a:prstGeom>
          <a:solidFill>
            <a:srgbClr val="0F2040"/>
          </a:solidFill>
          <a:ln w="6350">
            <a:solidFill>
              <a:srgbClr val="1A2E52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43000"/>
            <a:ext cx="54864" cy="667512"/>
          </a:xfrm>
          <a:prstGeom prst="rect">
            <a:avLst/>
          </a:prstGeom>
          <a:solidFill>
            <a:srgbClr val="00FFD1"/>
          </a:solidFill>
          <a:ln w="12700">
            <a:solidFill>
              <a:srgbClr val="00FFD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197864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Lead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88920" y="1234440"/>
            <a:ext cx="1554480" cy="219456"/>
          </a:xfrm>
          <a:prstGeom prst="rect">
            <a:avLst/>
          </a:prstGeom>
          <a:solidFill>
            <a:srgbClr val="00FFD1">
              <a:alpha val="30000"/>
            </a:srgbClr>
          </a:solidFill>
          <a:ln w="12700">
            <a:solidFill>
              <a:srgbClr val="00FF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88920" y="1234440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F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Sangu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84632" y="1499616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Full-system integration, build pipeline, live demo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09160" y="1143000"/>
            <a:ext cx="4206240" cy="667512"/>
          </a:xfrm>
          <a:prstGeom prst="rect">
            <a:avLst/>
          </a:prstGeom>
          <a:solidFill>
            <a:srgbClr val="0F2040"/>
          </a:solidFill>
          <a:ln w="6350">
            <a:solidFill>
              <a:srgbClr val="1A2E52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143000"/>
            <a:ext cx="54864" cy="667512"/>
          </a:xfrm>
          <a:prstGeom prst="rect">
            <a:avLst/>
          </a:prstGeom>
          <a:solidFill>
            <a:srgbClr val="00B5D8"/>
          </a:solidFill>
          <a:ln w="12700">
            <a:solidFill>
              <a:srgbClr val="00B5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1197864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Commodity Module Dev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178040" y="1234440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B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2.David(Mazie) </a:t>
            </a:r>
            <a:r>
              <a:rPr lang="en-US" sz="850" b="1" dirty="0" err="1">
                <a:solidFill>
                  <a:srgbClr val="00B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Lumuno</a:t>
            </a:r>
            <a:r>
              <a:rPr lang="en-US" sz="850" b="1" dirty="0">
                <a:solidFill>
                  <a:srgbClr val="00B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(Tomato)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873752" y="1499616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Maize &amp; Tomato POJO design, validation, OOP foundation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" y="1901952"/>
            <a:ext cx="4206240" cy="667512"/>
          </a:xfrm>
          <a:prstGeom prst="rect">
            <a:avLst/>
          </a:prstGeom>
          <a:solidFill>
            <a:srgbClr val="0F2040"/>
          </a:solidFill>
          <a:ln w="6350">
            <a:solidFill>
              <a:srgbClr val="1A2E52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320040" y="1901952"/>
            <a:ext cx="54864" cy="667512"/>
          </a:xfrm>
          <a:prstGeom prst="rect">
            <a:avLst/>
          </a:prstGeom>
          <a:solidFill>
            <a:srgbClr val="39FF8F"/>
          </a:solidFill>
          <a:ln w="12700">
            <a:solidFill>
              <a:srgbClr val="39FF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" y="1956816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Supply-Demand Engine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788920" y="1993392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9F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Emmanuel 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84632" y="2258568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economic algorithms, price elasticity, FSI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09160" y="1901952"/>
            <a:ext cx="4206240" cy="667512"/>
          </a:xfrm>
          <a:prstGeom prst="rect">
            <a:avLst/>
          </a:prstGeom>
          <a:solidFill>
            <a:srgbClr val="0F2040"/>
          </a:solidFill>
          <a:ln w="6350">
            <a:solidFill>
              <a:srgbClr val="1A2E52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4709160" y="1901952"/>
            <a:ext cx="54864" cy="667512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73752" y="1956816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&amp; Loss Sim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178040" y="1993392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Samuel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873752" y="2258568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decay, spoilage model, file persistence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0040" y="2660904"/>
            <a:ext cx="4206240" cy="667512"/>
          </a:xfrm>
          <a:prstGeom prst="rect">
            <a:avLst/>
          </a:prstGeom>
          <a:solidFill>
            <a:srgbClr val="0F2040"/>
          </a:solidFill>
          <a:ln w="6350">
            <a:solidFill>
              <a:srgbClr val="1A2E52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" y="2660904"/>
            <a:ext cx="54864" cy="667512"/>
          </a:xfrm>
          <a:prstGeom prst="rect">
            <a:avLst/>
          </a:prstGeom>
          <a:solidFill>
            <a:srgbClr val="00B5D8"/>
          </a:solidFill>
          <a:ln w="12700">
            <a:solidFill>
              <a:srgbClr val="00B5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" y="271576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&amp; Reporting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788920" y="2752344"/>
            <a:ext cx="1554480" cy="219456"/>
          </a:xfrm>
          <a:prstGeom prst="rect">
            <a:avLst/>
          </a:prstGeom>
          <a:solidFill>
            <a:srgbClr val="00B5D8">
              <a:alpha val="30000"/>
            </a:srgbClr>
          </a:solidFill>
          <a:ln w="12700">
            <a:solidFill>
              <a:srgbClr val="00B5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88920" y="2752344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B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Temwani W Zimba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84632" y="3017520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FRA rules, report generation, CSV export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09160" y="2660904"/>
            <a:ext cx="4206240" cy="667512"/>
          </a:xfrm>
          <a:prstGeom prst="rect">
            <a:avLst/>
          </a:prstGeom>
          <a:solidFill>
            <a:srgbClr val="0F2040"/>
          </a:solidFill>
          <a:ln w="6350">
            <a:solidFill>
              <a:srgbClr val="1A2E52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4709160" y="2660904"/>
            <a:ext cx="54864" cy="667512"/>
          </a:xfrm>
          <a:prstGeom prst="rect">
            <a:avLst/>
          </a:prstGeom>
          <a:solidFill>
            <a:srgbClr val="00FFD1"/>
          </a:solidFill>
          <a:ln w="12700">
            <a:solidFill>
              <a:srgbClr val="00FFD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73752" y="271576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Designer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7178040" y="2752344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F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Chris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873752" y="3017520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class diagram, architecture, flowcharts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20040" y="3419856"/>
            <a:ext cx="4206240" cy="667512"/>
          </a:xfrm>
          <a:prstGeom prst="rect">
            <a:avLst/>
          </a:prstGeom>
          <a:solidFill>
            <a:srgbClr val="0F2040"/>
          </a:solidFill>
          <a:ln w="6350">
            <a:solidFill>
              <a:srgbClr val="1A2E52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20040" y="3419856"/>
            <a:ext cx="54864" cy="667512"/>
          </a:xfrm>
          <a:prstGeom prst="rect">
            <a:avLst/>
          </a:prstGeom>
          <a:solidFill>
            <a:srgbClr val="39FF8F"/>
          </a:solidFill>
          <a:ln w="12700">
            <a:solidFill>
              <a:srgbClr val="39FF8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4632" y="347472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Modeler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2802568" y="3511296"/>
            <a:ext cx="1554480" cy="219456"/>
          </a:xfrm>
          <a:prstGeom prst="rect">
            <a:avLst/>
          </a:prstGeom>
          <a:solidFill>
            <a:srgbClr val="39FF8F">
              <a:alpha val="30000"/>
            </a:srgbClr>
          </a:solidFill>
          <a:ln w="12700">
            <a:solidFill>
              <a:srgbClr val="39FF8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88920" y="3511296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9F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Temwani Zimba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84632" y="3776472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derivation, FAO calibration, math documentation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709160" y="3419856"/>
            <a:ext cx="4206240" cy="667512"/>
          </a:xfrm>
          <a:prstGeom prst="rect">
            <a:avLst/>
          </a:prstGeom>
          <a:solidFill>
            <a:srgbClr val="0F2040"/>
          </a:solidFill>
          <a:ln w="6350">
            <a:solidFill>
              <a:srgbClr val="1A2E52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709160" y="3419856"/>
            <a:ext cx="54864" cy="667512"/>
          </a:xfrm>
          <a:prstGeom prst="rect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73752" y="347472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Engineer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7178040" y="3511296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Chitundu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4873752" y="3776472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18-test suite design, integration testing, CI setup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320040" y="4178808"/>
            <a:ext cx="4206240" cy="667512"/>
          </a:xfrm>
          <a:prstGeom prst="rect">
            <a:avLst/>
          </a:prstGeom>
          <a:solidFill>
            <a:srgbClr val="0F2040"/>
          </a:solidFill>
          <a:ln w="6350">
            <a:solidFill>
              <a:srgbClr val="1A2E52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320040" y="4178808"/>
            <a:ext cx="54864" cy="667512"/>
          </a:xfrm>
          <a:prstGeom prst="rect">
            <a:avLst/>
          </a:prstGeom>
          <a:solidFill>
            <a:srgbClr val="7BA4C0"/>
          </a:solidFill>
          <a:ln w="12700">
            <a:solidFill>
              <a:srgbClr val="7BA4C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84632" y="423367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Writer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2788920" y="4270248"/>
            <a:ext cx="1554480" cy="219456"/>
          </a:xfrm>
          <a:prstGeom prst="rect">
            <a:avLst/>
          </a:prstGeom>
          <a:solidFill>
            <a:srgbClr val="7BA4C0">
              <a:alpha val="30000"/>
            </a:srgbClr>
          </a:solidFill>
          <a:ln w="12700">
            <a:solidFill>
              <a:srgbClr val="7BA4C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2788920" y="4270248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7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Vanessa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484632" y="4535424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docs, code explanation guide, IEEE report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709160" y="4178808"/>
            <a:ext cx="4206240" cy="667512"/>
          </a:xfrm>
          <a:prstGeom prst="rect">
            <a:avLst/>
          </a:prstGeom>
          <a:solidFill>
            <a:srgbClr val="0F2040"/>
          </a:solidFill>
          <a:ln w="6350">
            <a:solidFill>
              <a:srgbClr val="1A2E52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4709160" y="4178808"/>
            <a:ext cx="54864" cy="667512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873752" y="423367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Lead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7178040" y="4270248"/>
            <a:ext cx="1554480" cy="219456"/>
          </a:xfrm>
          <a:prstGeom prst="rect">
            <a:avLst/>
          </a:prstGeom>
          <a:solidFill>
            <a:srgbClr val="FFB800">
              <a:alpha val="30000"/>
            </a:srgbClr>
          </a:solidFill>
          <a:ln w="1270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7178040" y="4270248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5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Chitundu</a:t>
            </a:r>
          </a:p>
        </p:txBody>
      </p:sp>
      <p:sp>
        <p:nvSpPr>
          <p:cNvPr id="64" name="Text 62"/>
          <p:cNvSpPr/>
          <p:nvPr/>
        </p:nvSpPr>
        <p:spPr>
          <a:xfrm>
            <a:off x="4873752" y="4535424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deck, speaker scripts, rehearsals, the ASK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FFD1"/>
          </a:solidFill>
          <a:ln w="12700">
            <a:solidFill>
              <a:srgbClr val="00FFD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00B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WIN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Zambia. Designed to Scale Africa-Wide.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8503920" cy="384048"/>
          </a:xfrm>
          <a:prstGeom prst="rect">
            <a:avLst/>
          </a:prstGeom>
          <a:solidFill>
            <a:srgbClr val="1A2E52"/>
          </a:solidFill>
          <a:ln w="12700">
            <a:solidFill>
              <a:srgbClr val="1A2E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9786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0" y="119786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F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AgriTwin-ZM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0" y="119786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ERP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995160" y="119786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 Models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1572768"/>
            <a:ext cx="8503920" cy="384048"/>
          </a:xfrm>
          <a:prstGeom prst="rect">
            <a:avLst/>
          </a:prstGeom>
          <a:solidFill>
            <a:srgbClr val="0F2040"/>
          </a:solidFill>
          <a:ln w="12700">
            <a:solidFill>
              <a:srgbClr val="1A2E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62763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Zambian policy rules (FRA)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43200" y="162763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9F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6 rules, hardcoded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0" y="162763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Generic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995160" y="162763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Manual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1975104"/>
            <a:ext cx="8503920" cy="384048"/>
          </a:xfrm>
          <a:prstGeom prst="rect">
            <a:avLst/>
          </a:prstGeom>
          <a:solidFill>
            <a:srgbClr val="0A1628"/>
          </a:solidFill>
          <a:ln w="12700">
            <a:solidFill>
              <a:srgbClr val="1A2E5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02996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decay model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743200" y="202996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9F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FAO-aligned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0" y="202996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None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995160" y="202996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Simplified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2377440"/>
            <a:ext cx="8503920" cy="384048"/>
          </a:xfrm>
          <a:prstGeom prst="rect">
            <a:avLst/>
          </a:prstGeom>
          <a:solidFill>
            <a:srgbClr val="0F2040"/>
          </a:solidFill>
          <a:ln w="12700">
            <a:solidFill>
              <a:srgbClr val="1A2E5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243230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Aflatoxin detection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743200" y="243230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9F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Moisture × time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29200" y="243230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None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995160" y="243230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None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2779776"/>
            <a:ext cx="8503920" cy="384048"/>
          </a:xfrm>
          <a:prstGeom prst="rect">
            <a:avLst/>
          </a:prstGeom>
          <a:solidFill>
            <a:srgbClr val="0A1628"/>
          </a:solidFill>
          <a:ln w="12700">
            <a:solidFill>
              <a:srgbClr val="1A2E5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28346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offline / rural JDK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743200" y="28346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9F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Console mode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29200" y="28346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Cloud-only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995160" y="28346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Excel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0040" y="3182112"/>
            <a:ext cx="8503920" cy="384048"/>
          </a:xfrm>
          <a:prstGeom prst="rect">
            <a:avLst/>
          </a:prstGeom>
          <a:solidFill>
            <a:srgbClr val="0F2040"/>
          </a:solidFill>
          <a:ln w="12700">
            <a:solidFill>
              <a:srgbClr val="1A2E5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323697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demand curve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743200" y="323697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9F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Sinusoidal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29200" y="323697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Static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995160" y="323697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None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20040" y="3584448"/>
            <a:ext cx="8503920" cy="384048"/>
          </a:xfrm>
          <a:prstGeom prst="rect">
            <a:avLst/>
          </a:prstGeom>
          <a:solidFill>
            <a:srgbClr val="0A1628"/>
          </a:solidFill>
          <a:ln w="12700">
            <a:solidFill>
              <a:srgbClr val="1A2E5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" y="363931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/ auditable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743200" y="363931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9F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Full Java src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029200" y="363931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Black box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995160" y="363931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Partial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20040" y="3986784"/>
            <a:ext cx="8503920" cy="384048"/>
          </a:xfrm>
          <a:prstGeom prst="rect">
            <a:avLst/>
          </a:prstGeom>
          <a:solidFill>
            <a:srgbClr val="0F2040"/>
          </a:solidFill>
          <a:ln w="12700">
            <a:solidFill>
              <a:srgbClr val="1A2E5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1480" y="404164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external dependencies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743200" y="404164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9F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Vanilla JDK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029200" y="404164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Many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995160" y="404164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Office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20040" y="4389120"/>
            <a:ext cx="8503920" cy="384048"/>
          </a:xfrm>
          <a:prstGeom prst="rect">
            <a:avLst/>
          </a:prstGeom>
          <a:solidFill>
            <a:srgbClr val="0A1628"/>
          </a:solidFill>
          <a:ln w="12700">
            <a:solidFill>
              <a:srgbClr val="1A2E5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1480" y="444398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Unit-tested logic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2743200" y="444398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9F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18 tests, 0 fail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029200" y="444398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Unknown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995160" y="444398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None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60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FFD1"/>
          </a:solidFill>
          <a:ln w="12700">
            <a:solidFill>
              <a:srgbClr val="00FFD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75488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645152" y="0"/>
            <a:ext cx="109728" cy="5143500"/>
          </a:xfrm>
          <a:prstGeom prst="rect">
            <a:avLst/>
          </a:prstGeom>
          <a:solidFill>
            <a:srgbClr val="00FFD1"/>
          </a:solidFill>
          <a:ln w="12700">
            <a:solidFill>
              <a:srgbClr val="00FFD1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02920"/>
            <a:ext cx="91440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55448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0B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Ask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1938528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Pilot Partnership</a:t>
            </a:r>
            <a:endParaRPr lang="en-US" sz="3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FRA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457200" y="301752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F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not asking for funding.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F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asking for real data.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7200" y="3703320"/>
            <a:ext cx="3657600" cy="27432"/>
          </a:xfrm>
          <a:prstGeom prst="rect">
            <a:avLst/>
          </a:prstGeom>
          <a:solidFill>
            <a:srgbClr val="00B5D8"/>
          </a:solidFill>
          <a:ln w="12700">
            <a:solidFill>
              <a:srgbClr val="00B5D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37947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Lusaka  ·  BIT 213 / BSC 120  ·  May 2026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57200" y="41148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B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agritwin@unilus.ac.zm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937760" y="658368"/>
            <a:ext cx="3886200" cy="841248"/>
          </a:xfrm>
          <a:prstGeom prst="rect">
            <a:avLst/>
          </a:prstGeom>
          <a:solidFill>
            <a:srgbClr val="0F2040"/>
          </a:solidFill>
          <a:ln w="15240">
            <a:solidFill>
              <a:srgbClr val="00FFD1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937760" y="658368"/>
            <a:ext cx="502920" cy="841248"/>
          </a:xfrm>
          <a:prstGeom prst="rect">
            <a:avLst/>
          </a:prstGeom>
          <a:solidFill>
            <a:srgbClr val="00FFD1"/>
          </a:solidFill>
          <a:ln w="12700">
            <a:solidFill>
              <a:srgbClr val="00FFD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937760" y="914400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532120" y="713232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2026 maize harvest cycle data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5532120" y="1060704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calibrate our loss and demand models against real figures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937760" y="1664208"/>
            <a:ext cx="3886200" cy="841248"/>
          </a:xfrm>
          <a:prstGeom prst="rect">
            <a:avLst/>
          </a:prstGeom>
          <a:solidFill>
            <a:srgbClr val="0F2040"/>
          </a:solidFill>
          <a:ln w="15240">
            <a:solidFill>
              <a:srgbClr val="00B5D8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937760" y="1664208"/>
            <a:ext cx="502920" cy="841248"/>
          </a:xfrm>
          <a:prstGeom prst="rect">
            <a:avLst/>
          </a:prstGeom>
          <a:solidFill>
            <a:srgbClr val="00B5D8"/>
          </a:solidFill>
          <a:ln w="12700">
            <a:solidFill>
              <a:srgbClr val="00B5D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937760" y="1920240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532120" y="1719072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 reserve data (monthly, 2 seasons)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5532120" y="2066544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validate our policy threshold against ground truth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937760" y="2670048"/>
            <a:ext cx="3886200" cy="841248"/>
          </a:xfrm>
          <a:prstGeom prst="rect">
            <a:avLst/>
          </a:prstGeom>
          <a:solidFill>
            <a:srgbClr val="0F2040"/>
          </a:solidFill>
          <a:ln w="15240">
            <a:solidFill>
              <a:srgbClr val="39FF8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937760" y="2670048"/>
            <a:ext cx="502920" cy="841248"/>
          </a:xfrm>
          <a:prstGeom prst="rect">
            <a:avLst/>
          </a:prstGeom>
          <a:solidFill>
            <a:srgbClr val="39FF8F"/>
          </a:solidFill>
          <a:ln w="12700">
            <a:solidFill>
              <a:srgbClr val="39FF8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937760" y="2926080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532120" y="2724912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session with Ministry analysts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5532120" y="3072384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ensure AgriTwin-ZM answers real policy questions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4937760" y="3675888"/>
            <a:ext cx="3886200" cy="841248"/>
          </a:xfrm>
          <a:prstGeom prst="rect">
            <a:avLst/>
          </a:prstGeom>
          <a:solidFill>
            <a:srgbClr val="0F2040"/>
          </a:solidFill>
          <a:ln w="15240">
            <a:solidFill>
              <a:srgbClr val="FFB80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937760" y="3675888"/>
            <a:ext cx="502920" cy="841248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937760" y="3931920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5532120" y="3730752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 of intent for v2.0 joint development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5532120" y="4078224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Unlocks IoT sensor integration and national deployment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4937760" y="4718304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00B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"Every % point of avoided post-harvest loss is national food security and forex saved."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</TotalTime>
  <Words>1748</Words>
  <Application>Microsoft Office PowerPoint</Application>
  <PresentationFormat>On-screen Show (16:9)</PresentationFormat>
  <Paragraphs>387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AgriTwin-ZM Investor Pitch</dc:title>
  <dc:subject>PptxGenJS Presentation</dc:subject>
  <dc:creator>AgriTwin-ZM Team — University of Lusaka</dc:creator>
  <cp:lastModifiedBy>Sangulukani Musukwa</cp:lastModifiedBy>
  <cp:revision>3</cp:revision>
  <dcterms:created xsi:type="dcterms:W3CDTF">2026-05-11T05:53:16Z</dcterms:created>
  <dcterms:modified xsi:type="dcterms:W3CDTF">2026-05-13T06:49:54Z</dcterms:modified>
</cp:coreProperties>
</file>